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7" r:id="rId1"/>
  </p:sldMasterIdLst>
  <p:notesMasterIdLst>
    <p:notesMasterId r:id="rId7"/>
  </p:notesMasterIdLst>
  <p:sldIdLst>
    <p:sldId id="258" r:id="rId2"/>
    <p:sldId id="259" r:id="rId3"/>
    <p:sldId id="266" r:id="rId4"/>
    <p:sldId id="261" r:id="rId5"/>
    <p:sldId id="264"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5" autoAdjust="0"/>
    <p:restoredTop sz="94660"/>
  </p:normalViewPr>
  <p:slideViewPr>
    <p:cSldViewPr snapToGrid="0">
      <p:cViewPr varScale="1">
        <p:scale>
          <a:sx n="89" d="100"/>
          <a:sy n="89" d="100"/>
        </p:scale>
        <p:origin x="32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shank Anvekar" userId="57d4fc149fbab9b6" providerId="LiveId" clId="{C594FB5C-3E42-4EB1-8137-202620B097AA}"/>
    <pc:docChg chg="delSld">
      <pc:chgData name="Shashank Anvekar" userId="57d4fc149fbab9b6" providerId="LiveId" clId="{C594FB5C-3E42-4EB1-8137-202620B097AA}" dt="2026-04-09T16:26:43.039" v="4" actId="47"/>
      <pc:docMkLst>
        <pc:docMk/>
      </pc:docMkLst>
      <pc:sldChg chg="del">
        <pc:chgData name="Shashank Anvekar" userId="57d4fc149fbab9b6" providerId="LiveId" clId="{C594FB5C-3E42-4EB1-8137-202620B097AA}" dt="2026-04-09T16:26:23.923" v="0" actId="47"/>
        <pc:sldMkLst>
          <pc:docMk/>
          <pc:sldMk cId="2812772673" sldId="256"/>
        </pc:sldMkLst>
      </pc:sldChg>
      <pc:sldChg chg="del">
        <pc:chgData name="Shashank Anvekar" userId="57d4fc149fbab9b6" providerId="LiveId" clId="{C594FB5C-3E42-4EB1-8137-202620B097AA}" dt="2026-04-09T16:26:25.070" v="1" actId="47"/>
        <pc:sldMkLst>
          <pc:docMk/>
          <pc:sldMk cId="2791081293" sldId="257"/>
        </pc:sldMkLst>
      </pc:sldChg>
      <pc:sldChg chg="del">
        <pc:chgData name="Shashank Anvekar" userId="57d4fc149fbab9b6" providerId="LiveId" clId="{C594FB5C-3E42-4EB1-8137-202620B097AA}" dt="2026-04-09T16:26:33.210" v="2" actId="47"/>
        <pc:sldMkLst>
          <pc:docMk/>
          <pc:sldMk cId="2700904469" sldId="260"/>
        </pc:sldMkLst>
      </pc:sldChg>
      <pc:sldChg chg="del">
        <pc:chgData name="Shashank Anvekar" userId="57d4fc149fbab9b6" providerId="LiveId" clId="{C594FB5C-3E42-4EB1-8137-202620B097AA}" dt="2026-04-09T16:26:39.143" v="3" actId="47"/>
        <pc:sldMkLst>
          <pc:docMk/>
          <pc:sldMk cId="2202959614" sldId="262"/>
        </pc:sldMkLst>
      </pc:sldChg>
      <pc:sldChg chg="del">
        <pc:chgData name="Shashank Anvekar" userId="57d4fc149fbab9b6" providerId="LiveId" clId="{C594FB5C-3E42-4EB1-8137-202620B097AA}" dt="2026-04-09T16:26:43.039" v="4" actId="47"/>
        <pc:sldMkLst>
          <pc:docMk/>
          <pc:sldMk cId="3228457047"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73B8A2-200D-4714-8BD8-DA27827AFA89}" type="datetimeFigureOut">
              <a:rPr lang="en-IN" smtClean="0"/>
              <a:t>09-04-2026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9C357D-CDBC-4B2E-9382-BCE581882EA7}" type="slidenum">
              <a:rPr lang="en-IN" smtClean="0"/>
              <a:t>‹#›</a:t>
            </a:fld>
            <a:endParaRPr lang="en-IN"/>
          </a:p>
        </p:txBody>
      </p:sp>
    </p:spTree>
    <p:extLst>
      <p:ext uri="{BB962C8B-B14F-4D97-AF65-F5344CB8AC3E}">
        <p14:creationId xmlns:p14="http://schemas.microsoft.com/office/powerpoint/2010/main" val="2059796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EEA962-4CC0-45E5-B7B6-BA2FD2AF6D34}" type="datetime1">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4272E-2B2A-4F1C-B116-305C4E9EB6D3}" type="slidenum">
              <a:rPr lang="en-IN" smtClean="0"/>
              <a:t>‹#›</a:t>
            </a:fld>
            <a:endParaRPr lang="en-IN"/>
          </a:p>
        </p:txBody>
      </p:sp>
    </p:spTree>
    <p:extLst>
      <p:ext uri="{BB962C8B-B14F-4D97-AF65-F5344CB8AC3E}">
        <p14:creationId xmlns:p14="http://schemas.microsoft.com/office/powerpoint/2010/main" val="2298209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BD3639-3B0C-4E26-AC59-999F73C0392F}" type="datetime1">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4272E-2B2A-4F1C-B116-305C4E9EB6D3}" type="slidenum">
              <a:rPr lang="en-IN" smtClean="0"/>
              <a:t>‹#›</a:t>
            </a:fld>
            <a:endParaRPr lang="en-IN"/>
          </a:p>
        </p:txBody>
      </p:sp>
    </p:spTree>
    <p:extLst>
      <p:ext uri="{BB962C8B-B14F-4D97-AF65-F5344CB8AC3E}">
        <p14:creationId xmlns:p14="http://schemas.microsoft.com/office/powerpoint/2010/main" val="523689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66BFDD-C44B-4EBE-8491-7B1AF466E715}" type="datetime1">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4272E-2B2A-4F1C-B116-305C4E9EB6D3}" type="slidenum">
              <a:rPr lang="en-IN" smtClean="0"/>
              <a:t>‹#›</a:t>
            </a:fld>
            <a:endParaRPr lang="en-IN"/>
          </a:p>
        </p:txBody>
      </p:sp>
    </p:spTree>
    <p:extLst>
      <p:ext uri="{BB962C8B-B14F-4D97-AF65-F5344CB8AC3E}">
        <p14:creationId xmlns:p14="http://schemas.microsoft.com/office/powerpoint/2010/main" val="2393015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7B24BE-C1AE-4D53-8C9F-93E5797AAA56}" type="datetime1">
              <a:rPr lang="en-IN" smtClean="0"/>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84272E-2B2A-4F1C-B116-305C4E9EB6D3}" type="slidenum">
              <a:rPr lang="en-IN" smtClean="0"/>
              <a:t>‹#›</a:t>
            </a:fld>
            <a:endParaRPr lang="en-IN"/>
          </a:p>
        </p:txBody>
      </p:sp>
    </p:spTree>
    <p:extLst>
      <p:ext uri="{BB962C8B-B14F-4D97-AF65-F5344CB8AC3E}">
        <p14:creationId xmlns:p14="http://schemas.microsoft.com/office/powerpoint/2010/main" val="1768679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D6CC7B-E45E-4FB7-8425-466A1CEF043F}" type="datetime1">
              <a:rPr lang="en-IN" smtClean="0"/>
              <a:t>09-04-2026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584272E-2B2A-4F1C-B116-305C4E9EB6D3}" type="slidenum">
              <a:rPr lang="en-IN" smtClean="0"/>
              <a:t>‹#›</a:t>
            </a:fld>
            <a:endParaRPr lang="en-IN"/>
          </a:p>
        </p:txBody>
      </p:sp>
    </p:spTree>
    <p:extLst>
      <p:ext uri="{BB962C8B-B14F-4D97-AF65-F5344CB8AC3E}">
        <p14:creationId xmlns:p14="http://schemas.microsoft.com/office/powerpoint/2010/main" val="300217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EC6F12-910C-445B-BD7E-4D783227B350}" type="datetime1">
              <a:rPr lang="en-IN" smtClean="0"/>
              <a:t>09-04-2026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584272E-2B2A-4F1C-B116-305C4E9EB6D3}" type="slidenum">
              <a:rPr lang="en-IN" smtClean="0"/>
              <a:t>‹#›</a:t>
            </a:fld>
            <a:endParaRPr lang="en-IN"/>
          </a:p>
        </p:txBody>
      </p:sp>
    </p:spTree>
    <p:extLst>
      <p:ext uri="{BB962C8B-B14F-4D97-AF65-F5344CB8AC3E}">
        <p14:creationId xmlns:p14="http://schemas.microsoft.com/office/powerpoint/2010/main" val="510438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865F82-D5EE-4672-AAC1-99CBA205025E}" type="datetime1">
              <a:rPr lang="en-IN" smtClean="0"/>
              <a:t>09-04-2026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584272E-2B2A-4F1C-B116-305C4E9EB6D3}" type="slidenum">
              <a:rPr lang="en-IN" smtClean="0"/>
              <a:t>‹#›</a:t>
            </a:fld>
            <a:endParaRPr lang="en-IN"/>
          </a:p>
        </p:txBody>
      </p:sp>
    </p:spTree>
    <p:extLst>
      <p:ext uri="{BB962C8B-B14F-4D97-AF65-F5344CB8AC3E}">
        <p14:creationId xmlns:p14="http://schemas.microsoft.com/office/powerpoint/2010/main" val="2209738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7F9595-252A-4266-A8D2-AB8B7EBD4C56}" type="datetime1">
              <a:rPr lang="en-IN" smtClean="0"/>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84272E-2B2A-4F1C-B116-305C4E9EB6D3}" type="slidenum">
              <a:rPr lang="en-IN" smtClean="0"/>
              <a:t>‹#›</a:t>
            </a:fld>
            <a:endParaRPr lang="en-IN"/>
          </a:p>
        </p:txBody>
      </p:sp>
    </p:spTree>
    <p:extLst>
      <p:ext uri="{BB962C8B-B14F-4D97-AF65-F5344CB8AC3E}">
        <p14:creationId xmlns:p14="http://schemas.microsoft.com/office/powerpoint/2010/main" val="1093255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84272E-2B2A-4F1C-B116-305C4E9EB6D3}" type="slidenum">
              <a:rPr lang="en-IN" smtClean="0"/>
              <a:t>‹#›</a:t>
            </a:fld>
            <a:endParaRPr lang="en-IN"/>
          </a:p>
        </p:txBody>
      </p:sp>
      <p:sp>
        <p:nvSpPr>
          <p:cNvPr id="5" name="Date Placeholder 4"/>
          <p:cNvSpPr>
            <a:spLocks noGrp="1"/>
          </p:cNvSpPr>
          <p:nvPr>
            <p:ph type="dt" sz="half" idx="10"/>
          </p:nvPr>
        </p:nvSpPr>
        <p:spPr/>
        <p:txBody>
          <a:bodyPr/>
          <a:lstStyle/>
          <a:p>
            <a:fld id="{D3777E45-5689-4A4A-9C09-8241EC8395EA}" type="datetime1">
              <a:rPr lang="en-IN" smtClean="0"/>
              <a:t>09-04-2026</a:t>
            </a:fld>
            <a:endParaRPr lang="en-IN"/>
          </a:p>
        </p:txBody>
      </p:sp>
    </p:spTree>
    <p:extLst>
      <p:ext uri="{BB962C8B-B14F-4D97-AF65-F5344CB8AC3E}">
        <p14:creationId xmlns:p14="http://schemas.microsoft.com/office/powerpoint/2010/main" val="2675118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C81DE0-5C1D-481F-BDD1-DE3774B8D375}" type="datetime1">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4272E-2B2A-4F1C-B116-305C4E9EB6D3}" type="slidenum">
              <a:rPr lang="en-IN" smtClean="0"/>
              <a:t>‹#›</a:t>
            </a:fld>
            <a:endParaRPr lang="en-IN"/>
          </a:p>
        </p:txBody>
      </p:sp>
    </p:spTree>
    <p:extLst>
      <p:ext uri="{BB962C8B-B14F-4D97-AF65-F5344CB8AC3E}">
        <p14:creationId xmlns:p14="http://schemas.microsoft.com/office/powerpoint/2010/main" val="3873283146"/>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C81DE0-5C1D-481F-BDD1-DE3774B8D375}" type="datetime1">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4272E-2B2A-4F1C-B116-305C4E9EB6D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54348554"/>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C81DE0-5C1D-481F-BDD1-DE3774B8D375}" type="datetime1">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4272E-2B2A-4F1C-B116-305C4E9EB6D3}" type="slidenum">
              <a:rPr lang="en-IN" smtClean="0"/>
              <a:t>‹#›</a:t>
            </a:fld>
            <a:endParaRPr lang="en-IN"/>
          </a:p>
        </p:txBody>
      </p:sp>
    </p:spTree>
    <p:extLst>
      <p:ext uri="{BB962C8B-B14F-4D97-AF65-F5344CB8AC3E}">
        <p14:creationId xmlns:p14="http://schemas.microsoft.com/office/powerpoint/2010/main" val="2458206029"/>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C81DE0-5C1D-481F-BDD1-DE3774B8D375}" type="datetime1">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4272E-2B2A-4F1C-B116-305C4E9EB6D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51291986"/>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C81DE0-5C1D-481F-BDD1-DE3774B8D375}" type="datetime1">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4272E-2B2A-4F1C-B116-305C4E9EB6D3}" type="slidenum">
              <a:rPr lang="en-IN" smtClean="0"/>
              <a:t>‹#›</a:t>
            </a:fld>
            <a:endParaRPr lang="en-IN"/>
          </a:p>
        </p:txBody>
      </p:sp>
    </p:spTree>
    <p:extLst>
      <p:ext uri="{BB962C8B-B14F-4D97-AF65-F5344CB8AC3E}">
        <p14:creationId xmlns:p14="http://schemas.microsoft.com/office/powerpoint/2010/main" val="1271951655"/>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26B87F-2E6A-462B-A6BC-3B79B69D03D4}" type="datetime1">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4272E-2B2A-4F1C-B116-305C4E9EB6D3}" type="slidenum">
              <a:rPr lang="en-IN" smtClean="0"/>
              <a:t>‹#›</a:t>
            </a:fld>
            <a:endParaRPr lang="en-IN"/>
          </a:p>
        </p:txBody>
      </p:sp>
    </p:spTree>
    <p:extLst>
      <p:ext uri="{BB962C8B-B14F-4D97-AF65-F5344CB8AC3E}">
        <p14:creationId xmlns:p14="http://schemas.microsoft.com/office/powerpoint/2010/main" val="1618454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0433E2-3026-4D8E-A875-529762C56B4C}" type="datetime1">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84272E-2B2A-4F1C-B116-305C4E9EB6D3}" type="slidenum">
              <a:rPr lang="en-IN" smtClean="0"/>
              <a:t>‹#›</a:t>
            </a:fld>
            <a:endParaRPr lang="en-IN"/>
          </a:p>
        </p:txBody>
      </p:sp>
    </p:spTree>
    <p:extLst>
      <p:ext uri="{BB962C8B-B14F-4D97-AF65-F5344CB8AC3E}">
        <p14:creationId xmlns:p14="http://schemas.microsoft.com/office/powerpoint/2010/main" val="661014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C81DE0-5C1D-481F-BDD1-DE3774B8D375}" type="datetime1">
              <a:rPr lang="en-IN" smtClean="0"/>
              <a:t>09-04-2026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584272E-2B2A-4F1C-B116-305C4E9EB6D3}" type="slidenum">
              <a:rPr lang="en-IN" smtClean="0"/>
              <a:t>‹#›</a:t>
            </a:fld>
            <a:endParaRPr lang="en-IN"/>
          </a:p>
        </p:txBody>
      </p:sp>
    </p:spTree>
    <p:extLst>
      <p:ext uri="{BB962C8B-B14F-4D97-AF65-F5344CB8AC3E}">
        <p14:creationId xmlns:p14="http://schemas.microsoft.com/office/powerpoint/2010/main" val="294374213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hf hdr="0" ft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867B8-CA3D-4A7E-9D14-FAB99FB8D1F5}"/>
              </a:ext>
            </a:extLst>
          </p:cNvPr>
          <p:cNvSpPr>
            <a:spLocks noGrp="1"/>
          </p:cNvSpPr>
          <p:nvPr>
            <p:ph type="title"/>
          </p:nvPr>
        </p:nvSpPr>
        <p:spPr/>
        <p:txBody>
          <a:bodyPr/>
          <a:lstStyle/>
          <a:p>
            <a:r>
              <a:rPr lang="en-IN" sz="4800" dirty="0"/>
              <a:t>Idea and Value Creation</a:t>
            </a:r>
            <a:endParaRPr lang="en-IN" dirty="0"/>
          </a:p>
        </p:txBody>
      </p:sp>
      <p:sp>
        <p:nvSpPr>
          <p:cNvPr id="3" name="Content Placeholder 2">
            <a:extLst>
              <a:ext uri="{FF2B5EF4-FFF2-40B4-BE49-F238E27FC236}">
                <a16:creationId xmlns:a16="http://schemas.microsoft.com/office/drawing/2014/main" id="{B60E0AB0-5587-47EE-AA1E-AC0025BA78BF}"/>
              </a:ext>
            </a:extLst>
          </p:cNvPr>
          <p:cNvSpPr>
            <a:spLocks noGrp="1"/>
          </p:cNvSpPr>
          <p:nvPr>
            <p:ph idx="1"/>
          </p:nvPr>
        </p:nvSpPr>
        <p:spPr>
          <a:xfrm>
            <a:off x="541176" y="1996751"/>
            <a:ext cx="8836089" cy="4496124"/>
          </a:xfrm>
        </p:spPr>
        <p:txBody>
          <a:bodyPr>
            <a:normAutofit/>
          </a:bodyPr>
          <a:lstStyle/>
          <a:p>
            <a:pPr algn="just"/>
            <a:r>
              <a:rPr lang="en-IN" sz="2000" b="1" u="sng" dirty="0"/>
              <a:t>Description of Product:</a:t>
            </a:r>
            <a:r>
              <a:rPr lang="en-IN" sz="2000" dirty="0"/>
              <a:t> </a:t>
            </a:r>
          </a:p>
          <a:p>
            <a:pPr marL="0" indent="0" algn="just">
              <a:buNone/>
            </a:pPr>
            <a:r>
              <a:rPr lang="en-IN" sz="2000" dirty="0"/>
              <a:t>	 Headlight sensor is an sensor which is used to dim and dip the headlight of the car or any heavy vehicles, so that while travelling in single roads we can easily drive our vehicles.  </a:t>
            </a:r>
          </a:p>
          <a:p>
            <a:pPr algn="just"/>
            <a:r>
              <a:rPr lang="en-IN" sz="2000" b="1" u="sng" dirty="0"/>
              <a:t>Problem addressed:</a:t>
            </a:r>
            <a:r>
              <a:rPr lang="en-IN" sz="2000" dirty="0"/>
              <a:t> </a:t>
            </a:r>
          </a:p>
          <a:p>
            <a:pPr marL="0" indent="0" algn="just">
              <a:buNone/>
            </a:pPr>
            <a:r>
              <a:rPr lang="en-IN" sz="2000" dirty="0"/>
              <a:t>	This sensor is useful in automatically dim and dip the car headlight because most of the drivers never give dim when there is an vehicles Infront of them while travelling at night, which cause a huge problem.</a:t>
            </a:r>
            <a:endParaRPr lang="en-IN" sz="2000" u="sng" dirty="0"/>
          </a:p>
          <a:p>
            <a:pPr algn="just"/>
            <a:r>
              <a:rPr lang="en-IN" sz="2000" b="1" u="sng" dirty="0"/>
              <a:t>Benefit that we are bringing to the world:</a:t>
            </a:r>
            <a:r>
              <a:rPr lang="en-IN" sz="2000" u="sng" dirty="0"/>
              <a:t> </a:t>
            </a:r>
          </a:p>
          <a:p>
            <a:pPr marL="0" indent="0" algn="just">
              <a:buNone/>
            </a:pPr>
            <a:r>
              <a:rPr lang="en-IN" sz="2000" dirty="0"/>
              <a:t>	As per records the accidents caused at night in single roads is about 20.4% in 2022. The main benefit of using this sensor is to avoid accidents at night time.</a:t>
            </a:r>
            <a:r>
              <a:rPr lang="en-IN" dirty="0"/>
              <a:t> </a:t>
            </a:r>
            <a:endParaRPr lang="en-IN" u="sng" dirty="0"/>
          </a:p>
        </p:txBody>
      </p:sp>
      <p:sp>
        <p:nvSpPr>
          <p:cNvPr id="4" name="Date Placeholder 3">
            <a:extLst>
              <a:ext uri="{FF2B5EF4-FFF2-40B4-BE49-F238E27FC236}">
                <a16:creationId xmlns:a16="http://schemas.microsoft.com/office/drawing/2014/main" id="{DAA6FCED-5149-4196-9802-F573B8D7E1E6}"/>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4FE49BAF-2DDB-42BA-B100-E99DDA8F5B58}"/>
              </a:ext>
            </a:extLst>
          </p:cNvPr>
          <p:cNvSpPr>
            <a:spLocks noGrp="1"/>
          </p:cNvSpPr>
          <p:nvPr>
            <p:ph type="sldNum" sz="quarter" idx="12"/>
          </p:nvPr>
        </p:nvSpPr>
        <p:spPr/>
        <p:txBody>
          <a:bodyPr/>
          <a:lstStyle/>
          <a:p>
            <a:fld id="{C584272E-2B2A-4F1C-B116-305C4E9EB6D3}" type="slidenum">
              <a:rPr lang="en-IN" smtClean="0"/>
              <a:t>1</a:t>
            </a:fld>
            <a:endParaRPr lang="en-IN"/>
          </a:p>
        </p:txBody>
      </p:sp>
    </p:spTree>
    <p:extLst>
      <p:ext uri="{BB962C8B-B14F-4D97-AF65-F5344CB8AC3E}">
        <p14:creationId xmlns:p14="http://schemas.microsoft.com/office/powerpoint/2010/main" val="2851360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4C74B-D035-46B4-AA97-BB5CE92FBAC5}"/>
              </a:ext>
            </a:extLst>
          </p:cNvPr>
          <p:cNvSpPr>
            <a:spLocks noGrp="1"/>
          </p:cNvSpPr>
          <p:nvPr>
            <p:ph type="title"/>
          </p:nvPr>
        </p:nvSpPr>
        <p:spPr/>
        <p:txBody>
          <a:bodyPr/>
          <a:lstStyle/>
          <a:p>
            <a:r>
              <a:rPr lang="en-IN" sz="4800" dirty="0"/>
              <a:t>Innovation</a:t>
            </a:r>
            <a:r>
              <a:rPr lang="en-IN" dirty="0"/>
              <a:t> </a:t>
            </a:r>
          </a:p>
        </p:txBody>
      </p:sp>
      <p:sp>
        <p:nvSpPr>
          <p:cNvPr id="3" name="Content Placeholder 2">
            <a:extLst>
              <a:ext uri="{FF2B5EF4-FFF2-40B4-BE49-F238E27FC236}">
                <a16:creationId xmlns:a16="http://schemas.microsoft.com/office/drawing/2014/main" id="{DC349085-795A-46A1-82F2-46FC9DE6E472}"/>
              </a:ext>
            </a:extLst>
          </p:cNvPr>
          <p:cNvSpPr>
            <a:spLocks noGrp="1"/>
          </p:cNvSpPr>
          <p:nvPr>
            <p:ph idx="1"/>
          </p:nvPr>
        </p:nvSpPr>
        <p:spPr/>
        <p:txBody>
          <a:bodyPr/>
          <a:lstStyle/>
          <a:p>
            <a:pPr algn="just"/>
            <a:r>
              <a:rPr lang="en-IN" sz="2000" b="1" u="sng" dirty="0"/>
              <a:t>Innovation in the idea to be highlighted:</a:t>
            </a:r>
          </a:p>
          <a:p>
            <a:pPr marL="0" indent="0" algn="just">
              <a:buNone/>
            </a:pPr>
            <a:r>
              <a:rPr lang="en-IN" sz="2000" dirty="0"/>
              <a:t>	The main innovation that is highlighted here is, the headlights using this sensors automatically gets dim and dip as soon as a frequency of 200 – 400 kHz light source which makes better visibility of single roads at dark.</a:t>
            </a:r>
          </a:p>
          <a:p>
            <a:pPr algn="just"/>
            <a:r>
              <a:rPr lang="en-IN" sz="2000" b="1" u="sng" dirty="0"/>
              <a:t>Technology:</a:t>
            </a:r>
          </a:p>
          <a:p>
            <a:pPr marL="0" indent="0" algn="just">
              <a:buNone/>
            </a:pPr>
            <a:r>
              <a:rPr lang="en-IN" sz="2000" dirty="0"/>
              <a:t>	The technology used in this project is a LDR(Light Dependent Resistor) sensor which automatically adjust the intensity beam when it finds the vehicle in opposite direction. </a:t>
            </a:r>
          </a:p>
          <a:p>
            <a:endParaRPr lang="en-IN" dirty="0"/>
          </a:p>
        </p:txBody>
      </p:sp>
      <p:sp>
        <p:nvSpPr>
          <p:cNvPr id="4" name="Date Placeholder 3">
            <a:extLst>
              <a:ext uri="{FF2B5EF4-FFF2-40B4-BE49-F238E27FC236}">
                <a16:creationId xmlns:a16="http://schemas.microsoft.com/office/drawing/2014/main" id="{4975CBA0-330C-4099-A20F-AD4FEDB94708}"/>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A6BB4154-6CFE-4CC4-9459-F0F5E0030AE0}"/>
              </a:ext>
            </a:extLst>
          </p:cNvPr>
          <p:cNvSpPr>
            <a:spLocks noGrp="1"/>
          </p:cNvSpPr>
          <p:nvPr>
            <p:ph type="sldNum" sz="quarter" idx="12"/>
          </p:nvPr>
        </p:nvSpPr>
        <p:spPr/>
        <p:txBody>
          <a:bodyPr/>
          <a:lstStyle/>
          <a:p>
            <a:fld id="{C584272E-2B2A-4F1C-B116-305C4E9EB6D3}" type="slidenum">
              <a:rPr lang="en-IN" smtClean="0"/>
              <a:t>2</a:t>
            </a:fld>
            <a:endParaRPr lang="en-IN"/>
          </a:p>
        </p:txBody>
      </p:sp>
    </p:spTree>
    <p:extLst>
      <p:ext uri="{BB962C8B-B14F-4D97-AF65-F5344CB8AC3E}">
        <p14:creationId xmlns:p14="http://schemas.microsoft.com/office/powerpoint/2010/main" val="3348801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FBE67-EEF8-4DE2-98A3-23A2187F6400}"/>
              </a:ext>
            </a:extLst>
          </p:cNvPr>
          <p:cNvSpPr>
            <a:spLocks noGrp="1"/>
          </p:cNvSpPr>
          <p:nvPr>
            <p:ph type="title"/>
          </p:nvPr>
        </p:nvSpPr>
        <p:spPr/>
        <p:txBody>
          <a:bodyPr/>
          <a:lstStyle/>
          <a:p>
            <a:r>
              <a:rPr lang="en-IN" sz="4800" dirty="0"/>
              <a:t>Sketch of Product</a:t>
            </a:r>
            <a:endParaRPr lang="en-IN" dirty="0"/>
          </a:p>
        </p:txBody>
      </p:sp>
      <p:sp>
        <p:nvSpPr>
          <p:cNvPr id="3" name="Content Placeholder 2">
            <a:extLst>
              <a:ext uri="{FF2B5EF4-FFF2-40B4-BE49-F238E27FC236}">
                <a16:creationId xmlns:a16="http://schemas.microsoft.com/office/drawing/2014/main" id="{4DDB84C5-0FB8-4DC9-9279-0F84F886A568}"/>
              </a:ext>
            </a:extLst>
          </p:cNvPr>
          <p:cNvSpPr>
            <a:spLocks noGrp="1"/>
          </p:cNvSpPr>
          <p:nvPr>
            <p:ph idx="1"/>
          </p:nvPr>
        </p:nvSpPr>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                  Fig:5.1                                                               Fig:5.2</a:t>
            </a:r>
          </a:p>
        </p:txBody>
      </p:sp>
      <p:sp>
        <p:nvSpPr>
          <p:cNvPr id="4" name="Date Placeholder 3">
            <a:extLst>
              <a:ext uri="{FF2B5EF4-FFF2-40B4-BE49-F238E27FC236}">
                <a16:creationId xmlns:a16="http://schemas.microsoft.com/office/drawing/2014/main" id="{AB6372C4-B11D-4C2F-8FD2-082AE6A3170A}"/>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28630057-3C42-436C-956C-4989772A6CDE}"/>
              </a:ext>
            </a:extLst>
          </p:cNvPr>
          <p:cNvSpPr>
            <a:spLocks noGrp="1"/>
          </p:cNvSpPr>
          <p:nvPr>
            <p:ph type="sldNum" sz="quarter" idx="12"/>
          </p:nvPr>
        </p:nvSpPr>
        <p:spPr/>
        <p:txBody>
          <a:bodyPr/>
          <a:lstStyle/>
          <a:p>
            <a:fld id="{C584272E-2B2A-4F1C-B116-305C4E9EB6D3}" type="slidenum">
              <a:rPr lang="en-IN" smtClean="0"/>
              <a:t>3</a:t>
            </a:fld>
            <a:endParaRPr lang="en-IN"/>
          </a:p>
        </p:txBody>
      </p:sp>
      <p:pic>
        <p:nvPicPr>
          <p:cNvPr id="7" name="Picture 6">
            <a:extLst>
              <a:ext uri="{FF2B5EF4-FFF2-40B4-BE49-F238E27FC236}">
                <a16:creationId xmlns:a16="http://schemas.microsoft.com/office/drawing/2014/main" id="{91D2E06E-8794-99FF-5409-22DF1502FC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675" y="1930400"/>
            <a:ext cx="3899299" cy="2411963"/>
          </a:xfrm>
          <a:prstGeom prst="rect">
            <a:avLst/>
          </a:prstGeom>
        </p:spPr>
      </p:pic>
      <p:pic>
        <p:nvPicPr>
          <p:cNvPr id="9" name="Picture 8">
            <a:extLst>
              <a:ext uri="{FF2B5EF4-FFF2-40B4-BE49-F238E27FC236}">
                <a16:creationId xmlns:a16="http://schemas.microsoft.com/office/drawing/2014/main" id="{A1C72D52-3EFF-1B3F-9469-53A8D6219C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7173" y="2509935"/>
            <a:ext cx="3676829" cy="2346648"/>
          </a:xfrm>
          <a:prstGeom prst="rect">
            <a:avLst/>
          </a:prstGeom>
        </p:spPr>
      </p:pic>
    </p:spTree>
    <p:extLst>
      <p:ext uri="{BB962C8B-B14F-4D97-AF65-F5344CB8AC3E}">
        <p14:creationId xmlns:p14="http://schemas.microsoft.com/office/powerpoint/2010/main" val="2996575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82A1-7EF0-4533-B1C1-2A733E65369C}"/>
              </a:ext>
            </a:extLst>
          </p:cNvPr>
          <p:cNvSpPr>
            <a:spLocks noGrp="1"/>
          </p:cNvSpPr>
          <p:nvPr>
            <p:ph type="title"/>
          </p:nvPr>
        </p:nvSpPr>
        <p:spPr/>
        <p:txBody>
          <a:bodyPr/>
          <a:lstStyle/>
          <a:p>
            <a:r>
              <a:rPr lang="en-IN" sz="4800" dirty="0"/>
              <a:t>Project Plan</a:t>
            </a:r>
            <a:endParaRPr lang="en-IN" dirty="0"/>
          </a:p>
        </p:txBody>
      </p:sp>
      <p:sp>
        <p:nvSpPr>
          <p:cNvPr id="3" name="Content Placeholder 2">
            <a:extLst>
              <a:ext uri="{FF2B5EF4-FFF2-40B4-BE49-F238E27FC236}">
                <a16:creationId xmlns:a16="http://schemas.microsoft.com/office/drawing/2014/main" id="{9CD5C3F2-5A98-420C-9415-212374E6E076}"/>
              </a:ext>
            </a:extLst>
          </p:cNvPr>
          <p:cNvSpPr>
            <a:spLocks noGrp="1"/>
          </p:cNvSpPr>
          <p:nvPr>
            <p:ph idx="1"/>
          </p:nvPr>
        </p:nvSpPr>
        <p:spPr/>
        <p:txBody>
          <a:bodyPr>
            <a:normAutofit/>
          </a:bodyPr>
          <a:lstStyle/>
          <a:p>
            <a:pPr algn="just"/>
            <a:r>
              <a:rPr lang="en-US" sz="2000" b="1" u="sng" dirty="0">
                <a:ea typeface="Unbounded" pitchFamily="34" charset="-122"/>
                <a:cs typeface="Unbounded" pitchFamily="34" charset="-120"/>
              </a:rPr>
              <a:t>Market Research and Analysis:</a:t>
            </a:r>
            <a:endParaRPr lang="en-US" sz="2000" b="1" u="sng" dirty="0">
              <a:ea typeface="Cabin" pitchFamily="34" charset="-122"/>
              <a:cs typeface="Unbounded" pitchFamily="34" charset="-120"/>
            </a:endParaRPr>
          </a:p>
          <a:p>
            <a:pPr marL="0" indent="0" algn="just">
              <a:buNone/>
            </a:pPr>
            <a:r>
              <a:rPr lang="en-US" sz="2000" dirty="0">
                <a:ea typeface="Cabin" pitchFamily="34" charset="-122"/>
                <a:cs typeface="Cabin" pitchFamily="34" charset="-120"/>
              </a:rPr>
              <a:t>	Conduct thorough market research to identify potential user base and competition.</a:t>
            </a:r>
          </a:p>
          <a:p>
            <a:pPr algn="just"/>
            <a:r>
              <a:rPr lang="en-US" sz="2000" b="1" u="sng" dirty="0">
                <a:ea typeface="Unbounded" pitchFamily="34" charset="-122"/>
                <a:cs typeface="Unbounded" pitchFamily="34" charset="-120"/>
              </a:rPr>
              <a:t>Product Development and Testing:</a:t>
            </a:r>
            <a:endParaRPr lang="en-IN" sz="2000" b="1" u="sng" dirty="0"/>
          </a:p>
          <a:p>
            <a:pPr marL="0" indent="0" algn="just">
              <a:buNone/>
            </a:pPr>
            <a:r>
              <a:rPr lang="en-US" sz="2000" dirty="0">
                <a:ea typeface="Cabin" pitchFamily="34" charset="-122"/>
                <a:cs typeface="Cabin" pitchFamily="34" charset="-120"/>
              </a:rPr>
              <a:t>	We are in the progress of Designing and developing the sensors to conduct extensive testing.</a:t>
            </a:r>
            <a:endParaRPr lang="en-US" sz="2000" b="1" dirty="0"/>
          </a:p>
          <a:p>
            <a:pPr algn="just"/>
            <a:r>
              <a:rPr lang="en-US" sz="2000" b="1" u="sng" dirty="0">
                <a:ea typeface="Unbounded" pitchFamily="34" charset="-122"/>
                <a:cs typeface="Unbounded" pitchFamily="34" charset="-120"/>
              </a:rPr>
              <a:t>Launch and Marketing Strategy:</a:t>
            </a:r>
          </a:p>
          <a:p>
            <a:pPr marL="0" indent="0" algn="just">
              <a:buNone/>
            </a:pPr>
            <a:r>
              <a:rPr lang="en-US" sz="2000" dirty="0">
                <a:ea typeface="Cabin" pitchFamily="34" charset="-122"/>
                <a:cs typeface="Cabin" pitchFamily="34" charset="-120"/>
              </a:rPr>
              <a:t>	We will implement a comprehensive marketing strategy to reach target users around world.</a:t>
            </a:r>
            <a:endParaRPr lang="en-US" sz="2000" dirty="0">
              <a:ea typeface="Unbounded" pitchFamily="34" charset="-122"/>
              <a:cs typeface="Unbounded" pitchFamily="34" charset="-120"/>
            </a:endParaRPr>
          </a:p>
          <a:p>
            <a:pPr marL="0" indent="0">
              <a:buNone/>
            </a:pPr>
            <a:endParaRPr lang="en-IN" dirty="0"/>
          </a:p>
        </p:txBody>
      </p:sp>
      <p:sp>
        <p:nvSpPr>
          <p:cNvPr id="4" name="Date Placeholder 3">
            <a:extLst>
              <a:ext uri="{FF2B5EF4-FFF2-40B4-BE49-F238E27FC236}">
                <a16:creationId xmlns:a16="http://schemas.microsoft.com/office/drawing/2014/main" id="{95520EA8-EEAE-4548-8D3D-E9A86C059239}"/>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77E5AE36-1AE3-4162-9BB1-4716A227A906}"/>
              </a:ext>
            </a:extLst>
          </p:cNvPr>
          <p:cNvSpPr>
            <a:spLocks noGrp="1"/>
          </p:cNvSpPr>
          <p:nvPr>
            <p:ph type="sldNum" sz="quarter" idx="12"/>
          </p:nvPr>
        </p:nvSpPr>
        <p:spPr/>
        <p:txBody>
          <a:bodyPr/>
          <a:lstStyle/>
          <a:p>
            <a:fld id="{C584272E-2B2A-4F1C-B116-305C4E9EB6D3}" type="slidenum">
              <a:rPr lang="en-IN" smtClean="0"/>
              <a:t>4</a:t>
            </a:fld>
            <a:endParaRPr lang="en-IN"/>
          </a:p>
        </p:txBody>
      </p:sp>
    </p:spTree>
    <p:extLst>
      <p:ext uri="{BB962C8B-B14F-4D97-AF65-F5344CB8AC3E}">
        <p14:creationId xmlns:p14="http://schemas.microsoft.com/office/powerpoint/2010/main" val="3482600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FF856-34E2-4DAA-BC76-C9A8C7EA3DDF}"/>
              </a:ext>
            </a:extLst>
          </p:cNvPr>
          <p:cNvSpPr>
            <a:spLocks noGrp="1"/>
          </p:cNvSpPr>
          <p:nvPr>
            <p:ph type="title"/>
          </p:nvPr>
        </p:nvSpPr>
        <p:spPr/>
        <p:txBody>
          <a:bodyPr>
            <a:normAutofit fontScale="90000"/>
          </a:bodyPr>
          <a:lstStyle/>
          <a:p>
            <a:r>
              <a:rPr lang="en-IN" sz="4900" dirty="0"/>
              <a:t>Market Size / Commercialization Potential</a:t>
            </a:r>
            <a:endParaRPr lang="en-IN" dirty="0"/>
          </a:p>
        </p:txBody>
      </p:sp>
      <p:sp>
        <p:nvSpPr>
          <p:cNvPr id="3" name="Content Placeholder 2">
            <a:extLst>
              <a:ext uri="{FF2B5EF4-FFF2-40B4-BE49-F238E27FC236}">
                <a16:creationId xmlns:a16="http://schemas.microsoft.com/office/drawing/2014/main" id="{4738BA56-B8D8-438A-AB49-4D9ED4444AB1}"/>
              </a:ext>
            </a:extLst>
          </p:cNvPr>
          <p:cNvSpPr>
            <a:spLocks noGrp="1"/>
          </p:cNvSpPr>
          <p:nvPr>
            <p:ph idx="1"/>
          </p:nvPr>
        </p:nvSpPr>
        <p:spPr>
          <a:xfrm>
            <a:off x="677334" y="2160589"/>
            <a:ext cx="8596668" cy="4454815"/>
          </a:xfrm>
        </p:spPr>
        <p:txBody>
          <a:bodyPr/>
          <a:lstStyle/>
          <a:p>
            <a:pPr algn="just">
              <a:lnSpc>
                <a:spcPct val="150000"/>
              </a:lnSpc>
            </a:pPr>
            <a:r>
              <a:rPr lang="en-US" sz="2000" b="1" u="sng" dirty="0">
                <a:solidFill>
                  <a:schemeClr val="tx1"/>
                </a:solidFill>
                <a:ea typeface="Unbounded" pitchFamily="34" charset="-122"/>
                <a:cs typeface="Unbounded" pitchFamily="34" charset="-120"/>
              </a:rPr>
              <a:t>Total Addressable Market (TOM):</a:t>
            </a:r>
            <a:r>
              <a:rPr lang="en-US" sz="2000" dirty="0">
                <a:solidFill>
                  <a:schemeClr val="tx1"/>
                </a:solidFill>
                <a:ea typeface="Unbounded" pitchFamily="34" charset="-122"/>
                <a:cs typeface="Unbounded" pitchFamily="34" charset="-120"/>
              </a:rPr>
              <a:t>  </a:t>
            </a:r>
          </a:p>
          <a:p>
            <a:pPr marL="0" indent="0" algn="just">
              <a:lnSpc>
                <a:spcPct val="150000"/>
              </a:lnSpc>
              <a:buNone/>
            </a:pPr>
            <a:r>
              <a:rPr lang="en-US" sz="2000" dirty="0">
                <a:solidFill>
                  <a:schemeClr val="tx1"/>
                </a:solidFill>
                <a:ea typeface="Unbounded" pitchFamily="34" charset="-122"/>
                <a:cs typeface="Unbounded" pitchFamily="34" charset="-120"/>
              </a:rPr>
              <a:t>	108.10 Billion USD</a:t>
            </a:r>
          </a:p>
          <a:p>
            <a:pPr algn="just">
              <a:lnSpc>
                <a:spcPct val="150000"/>
              </a:lnSpc>
            </a:pPr>
            <a:r>
              <a:rPr lang="en-US" sz="2000" b="1" u="sng" dirty="0">
                <a:solidFill>
                  <a:schemeClr val="tx1"/>
                </a:solidFill>
                <a:ea typeface="Unbounded" pitchFamily="34" charset="-122"/>
                <a:cs typeface="Unbounded" pitchFamily="34" charset="-120"/>
              </a:rPr>
              <a:t>Serviceable Obtainable Market (SOM):</a:t>
            </a:r>
            <a:r>
              <a:rPr lang="en-US" sz="2000" dirty="0">
                <a:solidFill>
                  <a:schemeClr val="tx1"/>
                </a:solidFill>
                <a:ea typeface="Unbounded" pitchFamily="34" charset="-122"/>
                <a:cs typeface="Unbounded" pitchFamily="34" charset="-120"/>
              </a:rPr>
              <a:t> </a:t>
            </a:r>
          </a:p>
          <a:p>
            <a:pPr marL="457200" lvl="1" indent="0" algn="just">
              <a:lnSpc>
                <a:spcPct val="150000"/>
              </a:lnSpc>
              <a:buNone/>
            </a:pPr>
            <a:r>
              <a:rPr lang="en-US" sz="1800" dirty="0">
                <a:solidFill>
                  <a:schemeClr val="tx1"/>
                </a:solidFill>
                <a:ea typeface="Unbounded" pitchFamily="34" charset="-122"/>
                <a:cs typeface="Unbounded" pitchFamily="34" charset="-120"/>
              </a:rPr>
              <a:t>25 Billion USD</a:t>
            </a:r>
            <a:endParaRPr lang="en-US" sz="1800" u="sng" dirty="0">
              <a:solidFill>
                <a:schemeClr val="tx1"/>
              </a:solidFill>
              <a:ea typeface="Unbounded" pitchFamily="34" charset="-122"/>
              <a:cs typeface="Unbounded" pitchFamily="34" charset="-120"/>
            </a:endParaRPr>
          </a:p>
          <a:p>
            <a:pPr algn="just">
              <a:lnSpc>
                <a:spcPct val="150000"/>
              </a:lnSpc>
            </a:pPr>
            <a:r>
              <a:rPr lang="en-US" sz="2000" b="1" u="sng" dirty="0">
                <a:solidFill>
                  <a:schemeClr val="tx1"/>
                </a:solidFill>
                <a:ea typeface="Unbounded" pitchFamily="34" charset="-122"/>
                <a:cs typeface="Unbounded" pitchFamily="34" charset="-120"/>
              </a:rPr>
              <a:t>Serviceable Available Market (SAM):</a:t>
            </a:r>
            <a:r>
              <a:rPr lang="en-US" sz="2000" dirty="0">
                <a:solidFill>
                  <a:schemeClr val="tx1"/>
                </a:solidFill>
                <a:ea typeface="Unbounded" pitchFamily="34" charset="-122"/>
                <a:cs typeface="Unbounded" pitchFamily="34" charset="-120"/>
              </a:rPr>
              <a:t> </a:t>
            </a:r>
          </a:p>
          <a:p>
            <a:pPr marL="457200" lvl="1" indent="0" algn="just">
              <a:lnSpc>
                <a:spcPct val="150000"/>
              </a:lnSpc>
              <a:buNone/>
            </a:pPr>
            <a:r>
              <a:rPr lang="en-US" sz="1800" dirty="0">
                <a:solidFill>
                  <a:schemeClr val="tx1"/>
                </a:solidFill>
                <a:ea typeface="Unbounded" pitchFamily="34" charset="-122"/>
                <a:cs typeface="Unbounded" pitchFamily="34" charset="-120"/>
              </a:rPr>
              <a:t>10-15 Billion USD</a:t>
            </a:r>
            <a:endParaRPr lang="en-US" sz="1800" u="sng" dirty="0">
              <a:solidFill>
                <a:schemeClr val="tx1"/>
              </a:solidFill>
              <a:ea typeface="Unbounded" pitchFamily="34" charset="-122"/>
              <a:cs typeface="Unbounded" pitchFamily="34" charset="-120"/>
            </a:endParaRPr>
          </a:p>
          <a:p>
            <a:endParaRPr lang="en-IN" dirty="0"/>
          </a:p>
        </p:txBody>
      </p:sp>
      <p:sp>
        <p:nvSpPr>
          <p:cNvPr id="4" name="Date Placeholder 3">
            <a:extLst>
              <a:ext uri="{FF2B5EF4-FFF2-40B4-BE49-F238E27FC236}">
                <a16:creationId xmlns:a16="http://schemas.microsoft.com/office/drawing/2014/main" id="{BCB2B4D0-AD00-482F-AAE9-9D101C8FA34D}"/>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04D35ABC-E7EA-4C3C-B466-C44BFAE654E7}"/>
              </a:ext>
            </a:extLst>
          </p:cNvPr>
          <p:cNvSpPr>
            <a:spLocks noGrp="1"/>
          </p:cNvSpPr>
          <p:nvPr>
            <p:ph type="sldNum" sz="quarter" idx="12"/>
          </p:nvPr>
        </p:nvSpPr>
        <p:spPr/>
        <p:txBody>
          <a:bodyPr/>
          <a:lstStyle/>
          <a:p>
            <a:fld id="{C584272E-2B2A-4F1C-B116-305C4E9EB6D3}" type="slidenum">
              <a:rPr lang="en-IN" smtClean="0"/>
              <a:t>5</a:t>
            </a:fld>
            <a:endParaRPr lang="en-IN"/>
          </a:p>
        </p:txBody>
      </p:sp>
    </p:spTree>
    <p:extLst>
      <p:ext uri="{BB962C8B-B14F-4D97-AF65-F5344CB8AC3E}">
        <p14:creationId xmlns:p14="http://schemas.microsoft.com/office/powerpoint/2010/main" val="71848835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241</TotalTime>
  <Words>326</Words>
  <Application>Microsoft Office PowerPoint</Application>
  <PresentationFormat>Widescreen</PresentationFormat>
  <Paragraphs>40</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Cabin</vt:lpstr>
      <vt:lpstr>Calibri</vt:lpstr>
      <vt:lpstr>Trebuchet MS</vt:lpstr>
      <vt:lpstr>Unbounded</vt:lpstr>
      <vt:lpstr>Wingdings 3</vt:lpstr>
      <vt:lpstr>Facet</vt:lpstr>
      <vt:lpstr>Idea and Value Creation</vt:lpstr>
      <vt:lpstr>Innovation </vt:lpstr>
      <vt:lpstr>Sketch of Product</vt:lpstr>
      <vt:lpstr>Project Plan</vt:lpstr>
      <vt:lpstr>Market Size / Commercialization Potential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pratik yagnik</dc:creator>
  <cp:lastModifiedBy>Shashank Anvekar</cp:lastModifiedBy>
  <cp:revision>8</cp:revision>
  <dcterms:created xsi:type="dcterms:W3CDTF">2018-08-14T16:40:12Z</dcterms:created>
  <dcterms:modified xsi:type="dcterms:W3CDTF">2026-04-09T16:26:44Z</dcterms:modified>
</cp:coreProperties>
</file>